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DM Sans" panose="020B0604020202020204" charset="0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Lora" panose="020B0604020202020204" charset="0"/>
      <p:regular r:id="rId22"/>
    </p:embeddedFont>
    <p:embeddedFont>
      <p:font typeface="Source Sans 3" panose="020B0604020202020204" charset="0"/>
      <p:regular r:id="rId23"/>
    </p:embeddedFont>
    <p:embeddedFont>
      <p:font typeface="Libre Baskerville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 Revenue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9A-4374-8A04-A4ABF633D1C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  <c:pt idx="3">
                  <c:v>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313392</c:v>
                </c:pt>
                <c:pt idx="1">
                  <c:v>249427</c:v>
                </c:pt>
                <c:pt idx="2">
                  <c:v>168246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9A-4374-8A04-A4ABF633D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471473960491783"/>
          <c:y val="0.19989677419354837"/>
          <c:w val="0.61986434590413042"/>
          <c:h val="0.494706019812039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Senior</c:v>
                </c:pt>
                <c:pt idx="2">
                  <c:v>Middle-aged</c:v>
                </c:pt>
                <c:pt idx="3">
                  <c:v>Adult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192980.3</c:v>
                </c:pt>
                <c:pt idx="1">
                  <c:v>190443.04</c:v>
                </c:pt>
                <c:pt idx="2">
                  <c:v>181878.91</c:v>
                </c:pt>
                <c:pt idx="3">
                  <c:v>165762.19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86-4548-836A-0FBD7D8F9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32094368"/>
        <c:axId val="1432088544"/>
      </c:barChart>
      <c:catAx>
        <c:axId val="1432094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088544"/>
        <c:crosses val="autoZero"/>
        <c:auto val="1"/>
        <c:lblAlgn val="ctr"/>
        <c:lblOffset val="100"/>
        <c:noMultiLvlLbl val="0"/>
      </c:catAx>
      <c:valAx>
        <c:axId val="1432088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2094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507501036054703"/>
          <c:y val="6.128938027824242E-2"/>
          <c:w val="0.36984997927890595"/>
          <c:h val="0.10140492023989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 </a:t>
            </a:r>
            <a:endParaRPr lang="en-US" dirty="0"/>
          </a:p>
        </c:rich>
      </c:tx>
      <c:layout>
        <c:manualLayout>
          <c:xMode val="edge"/>
          <c:yMode val="edge"/>
          <c:x val="0.39151256174480065"/>
          <c:y val="3.54374266661520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Express</c:v>
                </c:pt>
                <c:pt idx="2">
                  <c:v> </c:v>
                </c:pt>
                <c:pt idx="3">
                  <c:v>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233.21</c:v>
                </c:pt>
                <c:pt idx="1">
                  <c:v>240.67</c:v>
                </c:pt>
                <c:pt idx="2">
                  <c:v>0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D0-4585-B1E9-9F2E2EBBE6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37952592"/>
        <c:axId val="1437942192"/>
      </c:barChart>
      <c:catAx>
        <c:axId val="143795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942192"/>
        <c:crosses val="autoZero"/>
        <c:auto val="1"/>
        <c:lblAlgn val="ctr"/>
        <c:lblOffset val="100"/>
        <c:noMultiLvlLbl val="0"/>
      </c:catAx>
      <c:valAx>
        <c:axId val="1437942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952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T-Shirt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3.81</c:v>
                </c:pt>
                <c:pt idx="3">
                  <c:v>3.8</c:v>
                </c:pt>
                <c:pt idx="4">
                  <c:v>3.79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D5-42D1-A5B0-777FADDD21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37962576"/>
        <c:axId val="1437960496"/>
      </c:barChart>
      <c:catAx>
        <c:axId val="14379625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960496"/>
        <c:crosses val="autoZero"/>
        <c:auto val="1"/>
        <c:lblAlgn val="ctr"/>
        <c:lblOffset val="100"/>
        <c:noMultiLvlLbl val="0"/>
      </c:catAx>
      <c:valAx>
        <c:axId val="14379604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7962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25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43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51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8.svg"/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-10-6.svg"/><Relationship Id="rId5" Type="http://schemas.openxmlformats.org/officeDocument/2006/relationships/image" Target="../media/image-10-4.svg"/><Relationship Id="rId10" Type="http://schemas.openxmlformats.org/officeDocument/2006/relationships/image" Target="../media/image-10-10.svg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52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insights from </a:t>
            </a: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5,050 transactions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product categories, customer segments, and subscription behavior.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46422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23551" y="1354498"/>
            <a:ext cx="1290936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5050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4620" y="1848519"/>
            <a:ext cx="1759894" cy="33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</a:t>
            </a:r>
            <a:r>
              <a:rPr lang="en-US" sz="1350" dirty="0" smtClean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Rows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914525" y="1360438"/>
            <a:ext cx="75009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19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1520243" y="186736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20689" y="1375796"/>
            <a:ext cx="221567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556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3280359" y="1864479"/>
            <a:ext cx="1478867" cy="39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</a:t>
            </a:r>
            <a:r>
              <a:rPr lang="en-US" sz="1350" dirty="0" smtClean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350" dirty="0" smtClean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Amount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59226" y="1357214"/>
            <a:ext cx="1549672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601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4950620" y="1848519"/>
            <a:ext cx="1257558" cy="399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</a:t>
            </a:r>
            <a:r>
              <a:rPr lang="en-US" sz="1350" dirty="0" smtClean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350" dirty="0" smtClean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Ratings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5957" y="3058519"/>
            <a:ext cx="249711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smtClean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</a:t>
            </a: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3576" y="3386299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Age, Gender, Location, Subscription Status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25404" y="3056347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99161" y="3352597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Item, Category, Amount, Season, Size, Color</a:t>
            </a:r>
            <a:endParaRPr lang="en-US" sz="1150" dirty="0"/>
          </a:p>
        </p:txBody>
      </p:sp>
      <p:sp>
        <p:nvSpPr>
          <p:cNvPr id="15" name="Rectangle 14"/>
          <p:cNvSpPr/>
          <p:nvPr/>
        </p:nvSpPr>
        <p:spPr>
          <a:xfrm>
            <a:off x="6399572" y="1182558"/>
            <a:ext cx="1343025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50" dirty="0" smtClean="0">
                <a:latin typeface="Lora" panose="020B0604020202020204" charset="0"/>
              </a:rPr>
              <a:t>370</a:t>
            </a:r>
            <a:endParaRPr lang="en-US" sz="3850" dirty="0">
              <a:latin typeface="Lora" panose="020B06040202020202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60741" y="1804303"/>
            <a:ext cx="513282" cy="2989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sz="1350" dirty="0" smtClean="0">
                <a:latin typeface="Lora" panose="020B0604020202020204" charset="0"/>
              </a:rPr>
              <a:t>Size</a:t>
            </a:r>
            <a:endParaRPr lang="en-US" sz="1350" dirty="0">
              <a:latin typeface="Lora" panose="020B06040202020202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74682" y="1263436"/>
            <a:ext cx="1126854" cy="590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3000"/>
              </a:lnSpc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556</a:t>
            </a:r>
            <a:endParaRPr lang="en-US" sz="3850" dirty="0"/>
          </a:p>
        </p:txBody>
      </p:sp>
      <p:sp>
        <p:nvSpPr>
          <p:cNvPr id="18" name="Rectangle 17"/>
          <p:cNvSpPr/>
          <p:nvPr/>
        </p:nvSpPr>
        <p:spPr>
          <a:xfrm>
            <a:off x="7398009" y="1820205"/>
            <a:ext cx="1745991" cy="2671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3000"/>
              </a:lnSpc>
            </a:pPr>
            <a:r>
              <a:rPr lang="en-US" sz="1350" dirty="0" smtClean="0">
                <a:solidFill>
                  <a:srgbClr val="3A3630"/>
                </a:solidFill>
                <a:latin typeface="Lora" pitchFamily="34" charset="0"/>
              </a:rPr>
              <a:t>Previous Purchases</a:t>
            </a:r>
            <a:endParaRPr lang="en-US" sz="1350" dirty="0"/>
          </a:p>
        </p:txBody>
      </p:sp>
      <p:sp>
        <p:nvSpPr>
          <p:cNvPr id="19" name="Text 9"/>
          <p:cNvSpPr/>
          <p:nvPr/>
        </p:nvSpPr>
        <p:spPr>
          <a:xfrm>
            <a:off x="523577" y="3955066"/>
            <a:ext cx="2497113" cy="313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latin typeface="Lora" panose="020B0604020202020204" charset="0"/>
              </a:rPr>
              <a:t>Shopping behavior</a:t>
            </a:r>
            <a:endParaRPr lang="en-US" sz="1350" dirty="0">
              <a:latin typeface="Lora" panose="020B06040202020202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04756" y="4296185"/>
            <a:ext cx="7087197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dirty="0">
                <a:latin typeface="Source Sans 3" panose="020B0604020202020204" charset="0"/>
              </a:rPr>
              <a:t>Discount Applied, Promo Code Used, Previous Purchases, Frequency of Purchases, Review Rating, Shipping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3490"/>
            <a:ext cx="450220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Data Preparation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64" y="1162720"/>
            <a:ext cx="6296471" cy="2881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999" y="3259772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5211" y="3259772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Handle Missing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73521" y="3259772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Explore Structure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530843" y="3366800"/>
            <a:ext cx="14107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212654"/>
            <a:ext cx="8096845" cy="507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via pandas, explored with </a:t>
            </a: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imputed missing values by product category mean/mode, and created </a:t>
            </a: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features. Cleaned data loaded into SQL Server for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8" y="1128712"/>
            <a:ext cx="5412878" cy="383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 smtClean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</a:t>
            </a:r>
            <a:r>
              <a:rPr lang="en-US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by Gender &amp; Age Group</a:t>
            </a:r>
            <a:endParaRPr lang="en-US" dirty="0"/>
          </a:p>
        </p:txBody>
      </p:sp>
      <p:sp>
        <p:nvSpPr>
          <p:cNvPr id="5" name="Text 0"/>
          <p:cNvSpPr/>
          <p:nvPr/>
        </p:nvSpPr>
        <p:spPr>
          <a:xfrm>
            <a:off x="523577" y="455263"/>
            <a:ext cx="541287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 smtClean="0">
                <a:solidFill>
                  <a:srgbClr val="38512F"/>
                </a:solidFill>
                <a:latin typeface="Lora" pitchFamily="34" charset="0"/>
              </a:rPr>
              <a:t>Data Analysis using SQL</a:t>
            </a: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3909600676"/>
              </p:ext>
            </p:extLst>
          </p:nvPr>
        </p:nvGraphicFramePr>
        <p:xfrm>
          <a:off x="523577" y="1632744"/>
          <a:ext cx="3298031" cy="3110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193644354"/>
              </p:ext>
            </p:extLst>
          </p:nvPr>
        </p:nvGraphicFramePr>
        <p:xfrm>
          <a:off x="4600574" y="1629569"/>
          <a:ext cx="3619500" cy="306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00064"/>
            <a:ext cx="6331744" cy="102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 smtClean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value Discount Users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200" dirty="0" smtClean="0">
              <a:solidFill>
                <a:srgbClr val="38512F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>
              <a:lnSpc>
                <a:spcPct val="104000"/>
              </a:lnSpc>
            </a:pPr>
            <a:r>
              <a:rPr lang="en-US" sz="1400" dirty="0" smtClean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400" dirty="0" smtClean="0"/>
          </a:p>
          <a:p>
            <a:pPr marL="0" indent="0" algn="l">
              <a:lnSpc>
                <a:spcPct val="104000"/>
              </a:lnSpc>
              <a:buNone/>
            </a:pPr>
            <a:endParaRPr lang="en-US" sz="1400" dirty="0" smtClean="0">
              <a:solidFill>
                <a:srgbClr val="38512F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750" dirty="0" smtClean="0">
              <a:solidFill>
                <a:srgbClr val="38512F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 smtClean="0">
              <a:solidFill>
                <a:srgbClr val="38512F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750" dirty="0">
              <a:solidFill>
                <a:srgbClr val="38512F"/>
              </a:solidFill>
              <a:latin typeface="Lora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6" name="Shape 2"/>
          <p:cNvSpPr/>
          <p:nvPr/>
        </p:nvSpPr>
        <p:spPr>
          <a:xfrm>
            <a:off x="452141" y="1525042"/>
            <a:ext cx="3805534" cy="682377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r>
              <a:rPr lang="en-US" sz="1400" dirty="0" smtClean="0">
                <a:latin typeface="Lora" panose="020B0604020202020204" charset="0"/>
              </a:rPr>
              <a:t>Smart Shoppers</a:t>
            </a:r>
          </a:p>
          <a:p>
            <a:r>
              <a:rPr lang="en-US" sz="1200" dirty="0" smtClean="0">
                <a:solidFill>
                  <a:srgbClr val="454240"/>
                </a:solidFill>
                <a:latin typeface="Lora" panose="020B060402020202020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200" dirty="0" smtClean="0">
              <a:latin typeface="Lora" panose="020B0604020202020204" charset="0"/>
            </a:endParaRPr>
          </a:p>
          <a:p>
            <a:endParaRPr lang="en-US" sz="1400" dirty="0">
              <a:latin typeface="Lora" panose="020B0604020202020204" charset="0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664869" y="1525043"/>
            <a:ext cx="4225230" cy="695770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r>
              <a:rPr lang="en-US" sz="1400" dirty="0" smtClean="0">
                <a:latin typeface="Lora" panose="020B0604020202020204" charset="0"/>
              </a:rPr>
              <a:t>Strategic Opportunity</a:t>
            </a:r>
          </a:p>
          <a:p>
            <a:r>
              <a:rPr lang="en-US" sz="1200" dirty="0" smtClean="0">
                <a:solidFill>
                  <a:srgbClr val="454240"/>
                </a:solidFill>
                <a:latin typeface="Lora" panose="020B0604020202020204" charset="0"/>
              </a:rPr>
              <a:t>Target premium customers with exclusive offers.</a:t>
            </a:r>
            <a:endParaRPr lang="en-US" sz="1200" dirty="0" smtClean="0">
              <a:latin typeface="Lora" panose="020B0604020202020204" charset="0"/>
            </a:endParaRPr>
          </a:p>
          <a:p>
            <a:endParaRPr lang="en-US" sz="1400" dirty="0">
              <a:latin typeface="Lora" panose="020B0604020202020204" charset="0"/>
            </a:endParaRPr>
          </a:p>
        </p:txBody>
      </p:sp>
      <p:sp>
        <p:nvSpPr>
          <p:cNvPr id="8" name="Shape 2"/>
          <p:cNvSpPr/>
          <p:nvPr/>
        </p:nvSpPr>
        <p:spPr>
          <a:xfrm>
            <a:off x="452141" y="2525167"/>
            <a:ext cx="2419648" cy="543223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r>
              <a:rPr lang="en-US" dirty="0" smtClean="0">
                <a:latin typeface="Lora" panose="020B0604020202020204" charset="0"/>
              </a:rPr>
              <a:t>Shipping Type</a:t>
            </a:r>
            <a:endParaRPr lang="en-US" dirty="0" smtClean="0">
              <a:latin typeface="Lora" panose="020B0604020202020204" charset="0"/>
            </a:endParaRPr>
          </a:p>
          <a:p>
            <a:endParaRPr lang="en-US" sz="1400" dirty="0">
              <a:latin typeface="Lora" panose="020B0604020202020204" charset="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4664869" y="2525167"/>
            <a:ext cx="3479006" cy="543223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r>
              <a:rPr lang="en-US" dirty="0" smtClean="0">
                <a:latin typeface="Lora" panose="020B0604020202020204" charset="0"/>
              </a:rPr>
              <a:t>Top 5 Products by Rating</a:t>
            </a:r>
          </a:p>
          <a:p>
            <a:endParaRPr lang="en-US" sz="1400" dirty="0">
              <a:latin typeface="Lora" panose="020B0604020202020204" charset="0"/>
            </a:endParaRPr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2250986156"/>
              </p:ext>
            </p:extLst>
          </p:nvPr>
        </p:nvGraphicFramePr>
        <p:xfrm>
          <a:off x="378619" y="3207544"/>
          <a:ext cx="3221831" cy="1785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652755312"/>
              </p:ext>
            </p:extLst>
          </p:nvPr>
        </p:nvGraphicFramePr>
        <p:xfrm>
          <a:off x="4488656" y="3257550"/>
          <a:ext cx="4255294" cy="1885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2270"/>
            <a:ext cx="36995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2781" dirty="0"/>
          </a:p>
        </p:txBody>
      </p:sp>
      <p:sp>
        <p:nvSpPr>
          <p:cNvPr id="3" name="Text 1"/>
          <p:cNvSpPr/>
          <p:nvPr/>
        </p:nvSpPr>
        <p:spPr>
          <a:xfrm>
            <a:off x="923776" y="2420243"/>
            <a:ext cx="174367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1"/>
              </a:lnSpc>
            </a:pPr>
            <a:r>
              <a:rPr lang="en-US" sz="2781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278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58" y="1534195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638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1375" dirty="0"/>
          </a:p>
        </p:txBody>
      </p:sp>
      <p:sp>
        <p:nvSpPr>
          <p:cNvPr id="6" name="Text 3"/>
          <p:cNvSpPr/>
          <p:nvPr/>
        </p:nvSpPr>
        <p:spPr>
          <a:xfrm>
            <a:off x="496119" y="4144343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094" dirty="0"/>
          </a:p>
        </p:txBody>
      </p:sp>
      <p:sp>
        <p:nvSpPr>
          <p:cNvPr id="7" name="Text 4"/>
          <p:cNvSpPr/>
          <p:nvPr/>
        </p:nvSpPr>
        <p:spPr>
          <a:xfrm>
            <a:off x="3700091" y="2420243"/>
            <a:ext cx="174367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1"/>
              </a:lnSpc>
            </a:pPr>
            <a:r>
              <a:rPr lang="en-US" sz="2781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2781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772" y="1534195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85952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1375" dirty="0"/>
          </a:p>
        </p:txBody>
      </p:sp>
      <p:sp>
        <p:nvSpPr>
          <p:cNvPr id="10" name="Text 6"/>
          <p:cNvSpPr/>
          <p:nvPr/>
        </p:nvSpPr>
        <p:spPr>
          <a:xfrm>
            <a:off x="3272434" y="4144343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094" dirty="0"/>
          </a:p>
        </p:txBody>
      </p:sp>
      <p:sp>
        <p:nvSpPr>
          <p:cNvPr id="11" name="Text 7"/>
          <p:cNvSpPr/>
          <p:nvPr/>
        </p:nvSpPr>
        <p:spPr>
          <a:xfrm>
            <a:off x="6476405" y="2420243"/>
            <a:ext cx="174367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1"/>
              </a:lnSpc>
            </a:pPr>
            <a:r>
              <a:rPr lang="en-US" sz="2781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2781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086" y="1534195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267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1375" dirty="0"/>
          </a:p>
        </p:txBody>
      </p:sp>
      <p:sp>
        <p:nvSpPr>
          <p:cNvPr id="14" name="Text 9"/>
          <p:cNvSpPr/>
          <p:nvPr/>
        </p:nvSpPr>
        <p:spPr>
          <a:xfrm>
            <a:off x="6048747" y="4144343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094" dirty="0"/>
          </a:p>
        </p:txBody>
      </p:sp>
    </p:spTree>
    <p:extLst>
      <p:ext uri="{BB962C8B-B14F-4D97-AF65-F5344CB8AC3E}">
        <p14:creationId xmlns:p14="http://schemas.microsoft.com/office/powerpoint/2010/main" val="80846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4633"/>
            <a:ext cx="44252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8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68" y="1481138"/>
            <a:ext cx="1345034" cy="8168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4308" y="1866156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156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563" dirty="0"/>
          </a:p>
        </p:txBody>
      </p:sp>
      <p:sp>
        <p:nvSpPr>
          <p:cNvPr id="5" name="Text 2"/>
          <p:cNvSpPr/>
          <p:nvPr/>
        </p:nvSpPr>
        <p:spPr>
          <a:xfrm>
            <a:off x="3348261" y="16228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375" dirty="0"/>
          </a:p>
        </p:txBody>
      </p:sp>
      <p:sp>
        <p:nvSpPr>
          <p:cNvPr id="6" name="Text 3"/>
          <p:cNvSpPr/>
          <p:nvPr/>
        </p:nvSpPr>
        <p:spPr>
          <a:xfrm>
            <a:off x="3348261" y="1929409"/>
            <a:ext cx="18000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094" dirty="0"/>
          </a:p>
        </p:txBody>
      </p:sp>
      <p:sp>
        <p:nvSpPr>
          <p:cNvPr id="7" name="Shape 4"/>
          <p:cNvSpPr/>
          <p:nvPr/>
        </p:nvSpPr>
        <p:spPr>
          <a:xfrm>
            <a:off x="3241923" y="2306166"/>
            <a:ext cx="5370538" cy="9525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989" y="2333402"/>
            <a:ext cx="2690068" cy="8168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34308" y="2617217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156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563" dirty="0"/>
          </a:p>
        </p:txBody>
      </p:sp>
      <p:sp>
        <p:nvSpPr>
          <p:cNvPr id="10" name="Text 6"/>
          <p:cNvSpPr/>
          <p:nvPr/>
        </p:nvSpPr>
        <p:spPr>
          <a:xfrm>
            <a:off x="4020815" y="2475161"/>
            <a:ext cx="15705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375" dirty="0"/>
          </a:p>
        </p:txBody>
      </p:sp>
      <p:sp>
        <p:nvSpPr>
          <p:cNvPr id="11" name="Text 7"/>
          <p:cNvSpPr/>
          <p:nvPr/>
        </p:nvSpPr>
        <p:spPr>
          <a:xfrm>
            <a:off x="4020815" y="2781672"/>
            <a:ext cx="157058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094" dirty="0"/>
          </a:p>
        </p:txBody>
      </p:sp>
      <p:sp>
        <p:nvSpPr>
          <p:cNvPr id="12" name="Shape 8"/>
          <p:cNvSpPr/>
          <p:nvPr/>
        </p:nvSpPr>
        <p:spPr>
          <a:xfrm>
            <a:off x="3914478" y="3158431"/>
            <a:ext cx="4697983" cy="9525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34" y="3185667"/>
            <a:ext cx="4035103" cy="8168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34233" y="3469482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156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563" dirty="0"/>
          </a:p>
        </p:txBody>
      </p:sp>
      <p:sp>
        <p:nvSpPr>
          <p:cNvPr id="15" name="Text 10"/>
          <p:cNvSpPr/>
          <p:nvPr/>
        </p:nvSpPr>
        <p:spPr>
          <a:xfrm>
            <a:off x="4693295" y="3327425"/>
            <a:ext cx="15891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375" dirty="0"/>
          </a:p>
        </p:txBody>
      </p:sp>
      <p:sp>
        <p:nvSpPr>
          <p:cNvPr id="16" name="Text 11"/>
          <p:cNvSpPr/>
          <p:nvPr/>
        </p:nvSpPr>
        <p:spPr>
          <a:xfrm>
            <a:off x="4693295" y="3633937"/>
            <a:ext cx="15891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094" dirty="0"/>
          </a:p>
        </p:txBody>
      </p:sp>
      <p:sp>
        <p:nvSpPr>
          <p:cNvPr id="17" name="Text 12"/>
          <p:cNvSpPr/>
          <p:nvPr/>
        </p:nvSpPr>
        <p:spPr>
          <a:xfrm>
            <a:off x="496119" y="416197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094" dirty="0"/>
          </a:p>
        </p:txBody>
      </p:sp>
    </p:spTree>
    <p:extLst>
      <p:ext uri="{BB962C8B-B14F-4D97-AF65-F5344CB8AC3E}">
        <p14:creationId xmlns:p14="http://schemas.microsoft.com/office/powerpoint/2010/main" val="2280603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388" y="562496"/>
            <a:ext cx="3445669" cy="516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Repeat Buyers &amp; Subscription Link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870" y="1293019"/>
            <a:ext cx="5765080" cy="27003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0070" y="4055492"/>
            <a:ext cx="6908080" cy="523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with </a:t>
            </a: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 than 5 purchases</a:t>
            </a: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significantly more likely to subscribe — a strong signal for loyalty-to-subscription conversion strategy.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23577" y="328538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577" y="1007194"/>
            <a:ext cx="712737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 built to present all insights visually — revenue, segments, products, and subscriptions in one view.</a:t>
            </a:r>
            <a:endParaRPr lang="en-US" sz="1200" dirty="0"/>
          </a:p>
        </p:txBody>
      </p:sp>
      <p:pic>
        <p:nvPicPr>
          <p:cNvPr id="6" name="Picture 5" descr="C:\Users\admin\OneDrive\Desktop\My projects\customer behavior analysis\customer behavior dashboard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4" y="1550194"/>
            <a:ext cx="7050881" cy="3503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1350"/>
            <a:ext cx="500866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180579"/>
            <a:ext cx="2599209" cy="16859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4" name="Shape 2"/>
          <p:cNvSpPr/>
          <p:nvPr/>
        </p:nvSpPr>
        <p:spPr>
          <a:xfrm>
            <a:off x="673150" y="1330151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3851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6528" y="1453530"/>
            <a:ext cx="201960" cy="20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3150" y="192851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2238226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subscriber benefits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2358" y="1180579"/>
            <a:ext cx="2599209" cy="16859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9" name="Shape 6"/>
          <p:cNvSpPr/>
          <p:nvPr/>
        </p:nvSpPr>
        <p:spPr>
          <a:xfrm>
            <a:off x="3421931" y="1330151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38512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545309" y="1453530"/>
            <a:ext cx="201960" cy="201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1931" y="192851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931" y="2238226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→ Loyal segment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21139" y="1180579"/>
            <a:ext cx="2599283" cy="16859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14" name="Shape 10"/>
          <p:cNvSpPr/>
          <p:nvPr/>
        </p:nvSpPr>
        <p:spPr>
          <a:xfrm>
            <a:off x="6170712" y="1330151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38512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94090" y="1453530"/>
            <a:ext cx="201960" cy="201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0712" y="1928515"/>
            <a:ext cx="189659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0712" y="2238226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23577" y="3016151"/>
            <a:ext cx="3973637" cy="16859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19" name="Shape 14"/>
          <p:cNvSpPr/>
          <p:nvPr/>
        </p:nvSpPr>
        <p:spPr>
          <a:xfrm>
            <a:off x="673150" y="3165723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38512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96528" y="3289102"/>
            <a:ext cx="201960" cy="2019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3150" y="376408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73150" y="4073798"/>
            <a:ext cx="36744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&amp; express-shipping users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46786" y="3016151"/>
            <a:ext cx="3973637" cy="1685999"/>
          </a:xfrm>
          <a:prstGeom prst="roundRect">
            <a:avLst>
              <a:gd name="adj" fmla="val 1331"/>
            </a:avLst>
          </a:prstGeom>
          <a:solidFill>
            <a:srgbClr val="F3E7D4"/>
          </a:solidFill>
          <a:ln/>
        </p:spPr>
      </p:sp>
      <p:sp>
        <p:nvSpPr>
          <p:cNvPr id="24" name="Shape 18"/>
          <p:cNvSpPr/>
          <p:nvPr/>
        </p:nvSpPr>
        <p:spPr>
          <a:xfrm>
            <a:off x="4796358" y="3165723"/>
            <a:ext cx="448791" cy="448791"/>
          </a:xfrm>
          <a:prstGeom prst="roundRect">
            <a:avLst>
              <a:gd name="adj" fmla="val 12732939"/>
            </a:avLst>
          </a:prstGeom>
          <a:solidFill>
            <a:srgbClr val="38512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919737" y="3289102"/>
            <a:ext cx="201960" cy="2019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96358" y="376408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96358" y="4073798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&amp; best-selling products in campaigns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346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DM Sans</vt:lpstr>
      <vt:lpstr>Consolas</vt:lpstr>
      <vt:lpstr>Lora</vt:lpstr>
      <vt:lpstr>Source Sans 3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Madhuri Pingle</dc:creator>
  <cp:lastModifiedBy>admin</cp:lastModifiedBy>
  <cp:revision>11</cp:revision>
  <dcterms:created xsi:type="dcterms:W3CDTF">2026-05-23T10:03:12Z</dcterms:created>
  <dcterms:modified xsi:type="dcterms:W3CDTF">2026-05-23T12:56:26Z</dcterms:modified>
</cp:coreProperties>
</file>